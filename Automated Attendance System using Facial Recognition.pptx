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F5FD-3E4C-402A-AF7F-A1B63119A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73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Automated Attendance System using Facial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E004B-2836-46C1-922E-899257452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5164"/>
            <a:ext cx="9144000" cy="2173357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a project in development by</a:t>
            </a:r>
          </a:p>
          <a:p>
            <a:r>
              <a:rPr lang="en-US" sz="1800" dirty="0"/>
              <a:t>Paritosh Patil SY-E 69</a:t>
            </a:r>
          </a:p>
          <a:p>
            <a:r>
              <a:rPr lang="en-US" sz="1800" dirty="0"/>
              <a:t>Ranjit </a:t>
            </a:r>
            <a:r>
              <a:rPr lang="en-US" sz="1800" dirty="0" err="1"/>
              <a:t>Mengawade</a:t>
            </a:r>
            <a:r>
              <a:rPr lang="en-US" sz="1800" dirty="0"/>
              <a:t> SY-E 71</a:t>
            </a:r>
          </a:p>
          <a:p>
            <a:r>
              <a:rPr lang="en-US" sz="1800" dirty="0" err="1"/>
              <a:t>Hrushikesh</a:t>
            </a:r>
            <a:r>
              <a:rPr lang="en-US" sz="1800" dirty="0"/>
              <a:t> Kulkarni SY-E 05</a:t>
            </a:r>
          </a:p>
          <a:p>
            <a:endParaRPr lang="en-US" sz="1800" dirty="0"/>
          </a:p>
          <a:p>
            <a:r>
              <a:rPr lang="en-US" sz="1800" dirty="0"/>
              <a:t>Under the Guidance of</a:t>
            </a:r>
          </a:p>
          <a:p>
            <a:r>
              <a:rPr lang="en-US" sz="1800" dirty="0"/>
              <a:t>Prof. </a:t>
            </a:r>
            <a:r>
              <a:rPr lang="en-US" sz="1800" dirty="0" err="1"/>
              <a:t>Vivek</a:t>
            </a:r>
            <a:r>
              <a:rPr lang="en-US" sz="1800" dirty="0"/>
              <a:t> </a:t>
            </a:r>
            <a:r>
              <a:rPr lang="en-US" sz="1800" dirty="0" err="1"/>
              <a:t>Nikam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1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E20E-5AD6-4099-B201-6336C978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Facial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9451F-C32A-40DC-8803-B239CC6F4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161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facial recognition system is a technology capable of </a:t>
            </a:r>
            <a:br>
              <a:rPr lang="en-US" dirty="0"/>
            </a:br>
            <a:r>
              <a:rPr lang="en-US" dirty="0"/>
              <a:t>identifying or verifying a person from a digital image</a:t>
            </a:r>
            <a:br>
              <a:rPr lang="en-US" dirty="0"/>
            </a:br>
            <a:r>
              <a:rPr lang="en-US" dirty="0"/>
              <a:t>or a video frame from a video source. </a:t>
            </a:r>
          </a:p>
          <a:p>
            <a:endParaRPr lang="en-US" dirty="0"/>
          </a:p>
          <a:p>
            <a:r>
              <a:rPr lang="en-US" dirty="0"/>
              <a:t>In general,  Facial Recognition systems work by comparing</a:t>
            </a:r>
            <a:br>
              <a:rPr lang="en-US" dirty="0"/>
            </a:br>
            <a:r>
              <a:rPr lang="en-US" dirty="0"/>
              <a:t>selected facial features from the given image with faces</a:t>
            </a:r>
            <a:br>
              <a:rPr lang="en-US" dirty="0"/>
            </a:br>
            <a:r>
              <a:rPr lang="en-US" dirty="0"/>
              <a:t>within a database</a:t>
            </a:r>
          </a:p>
          <a:p>
            <a:endParaRPr lang="en-US" dirty="0"/>
          </a:p>
          <a:p>
            <a:r>
              <a:rPr lang="en-US" dirty="0"/>
              <a:t>The accuracy of Facial Recognition systems has grown exponentially over the past decade and is at a point where it highly depends of the variety of input data and the matching algorithm</a:t>
            </a:r>
          </a:p>
        </p:txBody>
      </p:sp>
    </p:spTree>
    <p:extLst>
      <p:ext uri="{BB962C8B-B14F-4D97-AF65-F5344CB8AC3E}">
        <p14:creationId xmlns:p14="http://schemas.microsoft.com/office/powerpoint/2010/main" val="273057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D663-6F3B-41FF-AFD2-2F531BB1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Processing in OpenCV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743B-82C1-40E0-A1AF-412A9E3D4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OpenCV is a library of programming functions aimed at </a:t>
            </a:r>
            <a:br>
              <a:rPr lang="en-US" dirty="0"/>
            </a:br>
            <a:r>
              <a:rPr lang="en-US" dirty="0"/>
              <a:t>real time computer vision and image processing</a:t>
            </a:r>
          </a:p>
          <a:p>
            <a:endParaRPr lang="en-US" dirty="0"/>
          </a:p>
          <a:p>
            <a:r>
              <a:rPr lang="en-US" dirty="0"/>
              <a:t>OpenCV is an open source library with support for various</a:t>
            </a:r>
            <a:br>
              <a:rPr lang="en-US" dirty="0"/>
            </a:br>
            <a:r>
              <a:rPr lang="en-US" dirty="0"/>
              <a:t>deep learning and machine learning tools like TensorFlow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 err="1"/>
              <a:t>PyTorch</a:t>
            </a:r>
            <a:endParaRPr lang="en-US" dirty="0"/>
          </a:p>
          <a:p>
            <a:endParaRPr lang="en-US" dirty="0"/>
          </a:p>
          <a:p>
            <a:r>
              <a:rPr lang="en-US" dirty="0"/>
              <a:t>In our use-case, we use OpenCV to extract faces from the</a:t>
            </a:r>
            <a:br>
              <a:rPr lang="en-US" dirty="0"/>
            </a:br>
            <a:r>
              <a:rPr lang="en-US" dirty="0"/>
              <a:t>input image and train a recognizer over that particular dataset</a:t>
            </a:r>
          </a:p>
        </p:txBody>
      </p:sp>
    </p:spTree>
    <p:extLst>
      <p:ext uri="{BB962C8B-B14F-4D97-AF65-F5344CB8AC3E}">
        <p14:creationId xmlns:p14="http://schemas.microsoft.com/office/powerpoint/2010/main" val="405653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51F9-F3B1-4505-B460-751D73CCF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Haar</a:t>
            </a:r>
            <a:r>
              <a:rPr lang="en-US" dirty="0"/>
              <a:t> Cascades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36C53-765C-4ED3-B734-0F2067FD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Haar</a:t>
            </a:r>
            <a:r>
              <a:rPr lang="en-US" dirty="0"/>
              <a:t> Cascade is a classifier that is used to detect</a:t>
            </a:r>
            <a:br>
              <a:rPr lang="en-US" dirty="0"/>
            </a:br>
            <a:r>
              <a:rPr lang="en-US" dirty="0"/>
              <a:t>the object it has been trained for</a:t>
            </a:r>
          </a:p>
          <a:p>
            <a:endParaRPr lang="en-US" dirty="0"/>
          </a:p>
          <a:p>
            <a:r>
              <a:rPr lang="en-US" dirty="0"/>
              <a:t>It can be thought of as a dataset of thousands of images </a:t>
            </a:r>
            <a:br>
              <a:rPr lang="en-US" dirty="0"/>
            </a:br>
            <a:r>
              <a:rPr lang="en-US" dirty="0"/>
              <a:t>that allow an image processing library to pick out the </a:t>
            </a:r>
            <a:br>
              <a:rPr lang="en-US" dirty="0"/>
            </a:br>
            <a:r>
              <a:rPr lang="en-US" dirty="0"/>
              <a:t>intended objects from a given image</a:t>
            </a:r>
          </a:p>
          <a:p>
            <a:endParaRPr lang="en-US" dirty="0"/>
          </a:p>
          <a:p>
            <a:r>
              <a:rPr lang="en-US" dirty="0"/>
              <a:t>For our use-case, we use a Frontal Face </a:t>
            </a:r>
            <a:r>
              <a:rPr lang="en-US" dirty="0" err="1"/>
              <a:t>Haar</a:t>
            </a:r>
            <a:r>
              <a:rPr lang="en-US" dirty="0"/>
              <a:t> Cascade that</a:t>
            </a:r>
            <a:br>
              <a:rPr lang="en-US" dirty="0"/>
            </a:br>
            <a:r>
              <a:rPr lang="en-US" dirty="0"/>
              <a:t>helps us to crop out just the faces from a given input image</a:t>
            </a:r>
          </a:p>
        </p:txBody>
      </p:sp>
    </p:spTree>
    <p:extLst>
      <p:ext uri="{BB962C8B-B14F-4D97-AF65-F5344CB8AC3E}">
        <p14:creationId xmlns:p14="http://schemas.microsoft.com/office/powerpoint/2010/main" val="153847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004C-2E42-48B4-8BB6-95F8C3A8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99210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798ED4ED-2445-49CC-BEAC-3E2F62442F63}"/>
              </a:ext>
            </a:extLst>
          </p:cNvPr>
          <p:cNvSpPr/>
          <p:nvPr/>
        </p:nvSpPr>
        <p:spPr>
          <a:xfrm>
            <a:off x="3176918" y="1770201"/>
            <a:ext cx="1502587" cy="1145277"/>
          </a:xfrm>
          <a:prstGeom prst="can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9525">
                  <a:noFill/>
                  <a:prstDash val="solid"/>
                </a:ln>
                <a:solidFill>
                  <a:schemeClr val="bg1"/>
                </a:solidFill>
              </a:rPr>
              <a:t>Data-Set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E7BB5-E846-4DB5-AA94-FB65B4D30852}"/>
              </a:ext>
            </a:extLst>
          </p:cNvPr>
          <p:cNvSpPr/>
          <p:nvPr/>
        </p:nvSpPr>
        <p:spPr>
          <a:xfrm>
            <a:off x="3273598" y="5089251"/>
            <a:ext cx="1309225" cy="716203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Trainer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E058CF-EBA3-454D-A90C-2A06D0279E0C}"/>
              </a:ext>
            </a:extLst>
          </p:cNvPr>
          <p:cNvSpPr/>
          <p:nvPr/>
        </p:nvSpPr>
        <p:spPr>
          <a:xfrm>
            <a:off x="6160760" y="2968014"/>
            <a:ext cx="2884894" cy="327739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Detector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1937D5-BC45-4813-859F-7D08B7304DD1}"/>
              </a:ext>
            </a:extLst>
          </p:cNvPr>
          <p:cNvSpPr/>
          <p:nvPr/>
        </p:nvSpPr>
        <p:spPr>
          <a:xfrm>
            <a:off x="1244841" y="1974661"/>
            <a:ext cx="1309225" cy="716203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Capturer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5F720C-AB30-4BF3-A1B5-BA68B2C5AE04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2554066" y="2332763"/>
            <a:ext cx="622852" cy="100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4D9048-5BA0-4C60-90FF-9E25FE8AFBE9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3928211" y="2915478"/>
            <a:ext cx="1" cy="21737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D7DC52-916B-4A7A-B119-37AF68ED60C1}"/>
              </a:ext>
            </a:extLst>
          </p:cNvPr>
          <p:cNvCxnSpPr>
            <a:cxnSpLocks/>
            <a:stCxn id="5" idx="3"/>
            <a:endCxn id="39" idx="1"/>
          </p:cNvCxnSpPr>
          <p:nvPr/>
        </p:nvCxnSpPr>
        <p:spPr>
          <a:xfrm>
            <a:off x="4582823" y="5447353"/>
            <a:ext cx="18776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DBAAB7C-4D5D-45A5-A33F-028271B55F3F}"/>
              </a:ext>
            </a:extLst>
          </p:cNvPr>
          <p:cNvSpPr/>
          <p:nvPr/>
        </p:nvSpPr>
        <p:spPr>
          <a:xfrm>
            <a:off x="1276602" y="3064097"/>
            <a:ext cx="1245704" cy="570016"/>
          </a:xfrm>
          <a:prstGeom prst="round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Webcam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6E5A997-440D-46A9-8F33-28387B77B6B3}"/>
              </a:ext>
            </a:extLst>
          </p:cNvPr>
          <p:cNvSpPr/>
          <p:nvPr/>
        </p:nvSpPr>
        <p:spPr>
          <a:xfrm>
            <a:off x="1276602" y="3634113"/>
            <a:ext cx="1245704" cy="570016"/>
          </a:xfrm>
          <a:prstGeom prst="round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Storage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3E0B30-1CF9-4AA4-A8DA-D02C3C46DB65}"/>
              </a:ext>
            </a:extLst>
          </p:cNvPr>
          <p:cNvCxnSpPr>
            <a:cxnSpLocks/>
            <a:stCxn id="25" idx="0"/>
            <a:endCxn id="7" idx="2"/>
          </p:cNvCxnSpPr>
          <p:nvPr/>
        </p:nvCxnSpPr>
        <p:spPr>
          <a:xfrm flipV="1">
            <a:off x="1899454" y="2690864"/>
            <a:ext cx="0" cy="373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2E78AFF3-8248-4D5B-96C6-2A475A50B2F8}"/>
              </a:ext>
            </a:extLst>
          </p:cNvPr>
          <p:cNvSpPr/>
          <p:nvPr/>
        </p:nvSpPr>
        <p:spPr>
          <a:xfrm>
            <a:off x="7013485" y="1758374"/>
            <a:ext cx="1179444" cy="692082"/>
          </a:xfrm>
          <a:prstGeom prst="snip1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Input Image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7B3566-314A-4BD9-988D-054011538EFC}"/>
              </a:ext>
            </a:extLst>
          </p:cNvPr>
          <p:cNvSpPr/>
          <p:nvPr/>
        </p:nvSpPr>
        <p:spPr>
          <a:xfrm>
            <a:off x="6460469" y="3470103"/>
            <a:ext cx="2239102" cy="587290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Face Detector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CF617B-3AF4-4B45-97B8-D526AE468D68}"/>
              </a:ext>
            </a:extLst>
          </p:cNvPr>
          <p:cNvSpPr/>
          <p:nvPr/>
        </p:nvSpPr>
        <p:spPr>
          <a:xfrm>
            <a:off x="6460468" y="5153708"/>
            <a:ext cx="2239103" cy="587290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Face Recognizer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67DEC7-7F7E-474F-8AD4-BF4291296DED}"/>
              </a:ext>
            </a:extLst>
          </p:cNvPr>
          <p:cNvSpPr txBox="1"/>
          <p:nvPr/>
        </p:nvSpPr>
        <p:spPr>
          <a:xfrm>
            <a:off x="6128124" y="4440321"/>
            <a:ext cx="2917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all faces from image cropped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5B02ABA-D4B2-4428-A280-83CA98F65C4E}"/>
              </a:ext>
            </a:extLst>
          </p:cNvPr>
          <p:cNvSpPr/>
          <p:nvPr/>
        </p:nvSpPr>
        <p:spPr>
          <a:xfrm>
            <a:off x="4293192" y="3427034"/>
            <a:ext cx="1502587" cy="673428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Haar</a:t>
            </a:r>
            <a:r>
              <a:rPr lang="en-US" b="1" dirty="0">
                <a:solidFill>
                  <a:schemeClr val="bg1"/>
                </a:solidFill>
              </a:rPr>
              <a:t> Cascade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7DE3505-B2A4-49E3-8A1D-94421EF92902}"/>
              </a:ext>
            </a:extLst>
          </p:cNvPr>
          <p:cNvCxnSpPr>
            <a:cxnSpLocks/>
            <a:stCxn id="52" idx="3"/>
            <a:endCxn id="38" idx="1"/>
          </p:cNvCxnSpPr>
          <p:nvPr/>
        </p:nvCxnSpPr>
        <p:spPr>
          <a:xfrm>
            <a:off x="5795779" y="3763748"/>
            <a:ext cx="6646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Cylinder 92">
            <a:extLst>
              <a:ext uri="{FF2B5EF4-FFF2-40B4-BE49-F238E27FC236}">
                <a16:creationId xmlns:a16="http://schemas.microsoft.com/office/drawing/2014/main" id="{CE97BC5A-751B-4190-980D-CF363AE24FA2}"/>
              </a:ext>
            </a:extLst>
          </p:cNvPr>
          <p:cNvSpPr/>
          <p:nvPr/>
        </p:nvSpPr>
        <p:spPr>
          <a:xfrm>
            <a:off x="9970482" y="3537884"/>
            <a:ext cx="1502587" cy="2137653"/>
          </a:xfrm>
          <a:prstGeom prst="can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9525">
                  <a:noFill/>
                  <a:prstDash val="solid"/>
                </a:ln>
                <a:solidFill>
                  <a:schemeClr val="bg1"/>
                </a:solidFill>
              </a:rPr>
              <a:t>Attendance</a:t>
            </a:r>
          </a:p>
          <a:p>
            <a:pPr algn="ctr"/>
            <a:r>
              <a:rPr lang="en-US" b="1" dirty="0">
                <a:ln w="9525">
                  <a:noFill/>
                  <a:prstDash val="solid"/>
                </a:ln>
                <a:solidFill>
                  <a:schemeClr val="bg1"/>
                </a:solidFill>
              </a:rPr>
              <a:t>Database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EAC02D1-3241-4B39-B6D4-6A44FE1A2BBA}"/>
              </a:ext>
            </a:extLst>
          </p:cNvPr>
          <p:cNvCxnSpPr>
            <a:cxnSpLocks/>
            <a:stCxn id="40" idx="3"/>
            <a:endCxn id="93" idx="2"/>
          </p:cNvCxnSpPr>
          <p:nvPr/>
        </p:nvCxnSpPr>
        <p:spPr>
          <a:xfrm flipV="1">
            <a:off x="9045654" y="4606711"/>
            <a:ext cx="924828" cy="28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E88192E-086B-4E13-BC78-A84C43E5F849}"/>
              </a:ext>
            </a:extLst>
          </p:cNvPr>
          <p:cNvCxnSpPr>
            <a:cxnSpLocks/>
            <a:stCxn id="37" idx="1"/>
            <a:endCxn id="6" idx="0"/>
          </p:cNvCxnSpPr>
          <p:nvPr/>
        </p:nvCxnSpPr>
        <p:spPr>
          <a:xfrm>
            <a:off x="7603207" y="2450456"/>
            <a:ext cx="0" cy="517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3E1F72E-587D-4A65-A8CE-428AA896FB5D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7580020" y="4057393"/>
            <a:ext cx="6869" cy="382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42E85C7-0E84-42B9-B55A-A9ED0910CC75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7586889" y="4778875"/>
            <a:ext cx="23187" cy="391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C8EA3C2-85A0-4616-A722-186E0AB62841}"/>
              </a:ext>
            </a:extLst>
          </p:cNvPr>
          <p:cNvSpPr/>
          <p:nvPr/>
        </p:nvSpPr>
        <p:spPr>
          <a:xfrm>
            <a:off x="1148159" y="5170745"/>
            <a:ext cx="1502587" cy="673428"/>
          </a:xfrm>
          <a:prstGeom prst="rec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Haar</a:t>
            </a:r>
            <a:r>
              <a:rPr lang="en-US" b="1" dirty="0">
                <a:solidFill>
                  <a:schemeClr val="bg1"/>
                </a:solidFill>
              </a:rPr>
              <a:t> Cascade</a:t>
            </a: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D0FD553B-CCD6-4913-B7DF-BB57443CA3BD}"/>
              </a:ext>
            </a:extLst>
          </p:cNvPr>
          <p:cNvCxnSpPr>
            <a:stCxn id="125" idx="1"/>
            <a:endCxn id="7" idx="1"/>
          </p:cNvCxnSpPr>
          <p:nvPr/>
        </p:nvCxnSpPr>
        <p:spPr>
          <a:xfrm rot="10800000" flipH="1">
            <a:off x="1148159" y="2332763"/>
            <a:ext cx="96682" cy="3174696"/>
          </a:xfrm>
          <a:prstGeom prst="bentConnector3">
            <a:avLst>
              <a:gd name="adj1" fmla="val -37351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374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14181B"/>
      </a:dk1>
      <a:lt1>
        <a:sysClr val="window" lastClr="F0F1F2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93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Automated Attendance System using Facial Recognition</vt:lpstr>
      <vt:lpstr>Facial Recognition</vt:lpstr>
      <vt:lpstr>Image Processing in OpenCV</vt:lpstr>
      <vt:lpstr>Haar Cascades</vt:lpstr>
      <vt:lpstr>System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Attendance System using Facial Recognition</dc:title>
  <dc:creator>Paritosh Patil</dc:creator>
  <cp:lastModifiedBy>Paritosh Patil</cp:lastModifiedBy>
  <cp:revision>5</cp:revision>
  <dcterms:created xsi:type="dcterms:W3CDTF">2019-03-12T16:39:24Z</dcterms:created>
  <dcterms:modified xsi:type="dcterms:W3CDTF">2019-03-12T17:17:12Z</dcterms:modified>
</cp:coreProperties>
</file>